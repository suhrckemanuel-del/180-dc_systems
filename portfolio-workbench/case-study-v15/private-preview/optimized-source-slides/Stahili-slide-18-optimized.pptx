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f64c39f8094eaa" /><Relationship Type="http://schemas.openxmlformats.org/officeDocument/2006/relationships/extended-properties" Target="/docProps/app.xml" Id="Rbed57e091f0b4469" /><Relationship Type="http://schemas.openxmlformats.org/officeDocument/2006/relationships/officeDocument" Target="/ppt/presentation.xml" Id="Rbe88b78afe674aff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20a51b7975714bfc"/>
  </p:sldMasterIdLst>
  <p:notesMasterIdLst>
    <p:notesMasterId xmlns:r="http://schemas.openxmlformats.org/officeDocument/2006/relationships" r:id="R42458243f48e438f"/>
  </p:notesMasterIdLst>
  <p:sldIdLst>
    <p:sldId xmlns:r="http://schemas.openxmlformats.org/officeDocument/2006/relationships" id="256" r:id="R8198a71f0d944646"/>
  </p:sldIdLst>
  <p:sldSz cx="9144000" cy="5143500"/>
  <p:notesSz cx="6858000" cy="9144000"/>
  <p:embeddedFontLst>
    <p:embeddedFont>
      <p:font typeface="Avenir Next"/>
      <p:regular xmlns:r="http://schemas.openxmlformats.org/officeDocument/2006/relationships" r:id="R45de6ed0d9274b4d"/>
      <p:bold xmlns:r="http://schemas.openxmlformats.org/officeDocument/2006/relationships" r:id="R9623a14f87234b78"/>
      <p:italic xmlns:r="http://schemas.openxmlformats.org/officeDocument/2006/relationships" r:id="R653e494546fe4a7a"/>
      <p:boldItalic xmlns:r="http://schemas.openxmlformats.org/officeDocument/2006/relationships" r:id="R039210d6e3b34b40"/>
    </p:embeddedFont>
    <p:embeddedFont>
      <p:font typeface="Lato"/>
      <p:regular xmlns:r="http://schemas.openxmlformats.org/officeDocument/2006/relationships" r:id="Rababdfeb28944c90"/>
      <p:bold xmlns:r="http://schemas.openxmlformats.org/officeDocument/2006/relationships" r:id="R9fed250d34e748ea"/>
      <p:italic xmlns:r="http://schemas.openxmlformats.org/officeDocument/2006/relationships" r:id="Rdd762ead69af4a94"/>
      <p:boldItalic xmlns:r="http://schemas.openxmlformats.org/officeDocument/2006/relationships" r:id="Rc47f6ae02be64ae7"/>
    </p:embeddedFont>
    <p:embeddedFont>
      <p:font typeface="Lato Black"/>
      <p:bold xmlns:r="http://schemas.openxmlformats.org/officeDocument/2006/relationships" r:id="Rbe861f91723b42da"/>
      <p:italic xmlns:r="http://schemas.openxmlformats.org/officeDocument/2006/relationships" r:id="Re90957fb74554c46"/>
      <p:boldItalic xmlns:r="http://schemas.openxmlformats.org/officeDocument/2006/relationships" r:id="Rd0c7b7d38854404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0E587EFB-C51D-4C3C-B8CE-1DBDD1E84E8E}">
  <a:tblStyle styleId="{0E587EFB-C51D-4C3C-B8CE-1DBDD1E84E8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8E8"/>
          </a:solidFill>
        </a:fill>
      </a:tcStyle>
    </a:wholeTbl>
    <a:band1H>
      <a:tcTxStyle/>
      <a:tcStyle>
        <a:tcBdr/>
        <a:fill>
          <a:solidFill>
            <a:srgbClr val="CECFC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ECFC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6c920127e94482" /><Relationship Type="http://schemas.openxmlformats.org/officeDocument/2006/relationships/slideMaster" Target="/ppt/slideMasters/slideMaster1.xml" Id="R20a51b7975714bfc" /><Relationship Type="http://schemas.openxmlformats.org/officeDocument/2006/relationships/notesMaster" Target="/ppt/notesMasters/notesMaster1.xml" Id="R42458243f48e438f" /><Relationship Type="http://schemas.openxmlformats.org/officeDocument/2006/relationships/presProps" Target="/ppt/presProps.xml" Id="Rdd3df0d4300a4180" /><Relationship Type="http://schemas.openxmlformats.org/officeDocument/2006/relationships/viewProps" Target="/ppt/viewProps.xml" Id="Ra4c85e5fc5714904" /><Relationship Type="http://schemas.openxmlformats.org/officeDocument/2006/relationships/tableStyles" Target="/ppt/tableStyles.xml" Id="R2304f1a3b359476e" /><Relationship Type="http://schemas.openxmlformats.org/officeDocument/2006/relationships/font" Target="/ppt/fonts/font.dat" Id="R45de6ed0d9274b4d" /><Relationship Type="http://schemas.openxmlformats.org/officeDocument/2006/relationships/font" Target="/ppt/fonts/font2.dat" Id="R9623a14f87234b78" /><Relationship Type="http://schemas.openxmlformats.org/officeDocument/2006/relationships/font" Target="/ppt/fonts/font3.dat" Id="R653e494546fe4a7a" /><Relationship Type="http://schemas.openxmlformats.org/officeDocument/2006/relationships/font" Target="/ppt/fonts/font4.dat" Id="R039210d6e3b34b40" /><Relationship Type="http://schemas.openxmlformats.org/officeDocument/2006/relationships/font" Target="/ppt/fonts/font5.dat" Id="Rababdfeb28944c90" /><Relationship Type="http://schemas.openxmlformats.org/officeDocument/2006/relationships/font" Target="/ppt/fonts/font6.dat" Id="R9fed250d34e748ea" /><Relationship Type="http://schemas.openxmlformats.org/officeDocument/2006/relationships/font" Target="/ppt/fonts/font7.dat" Id="Rdd762ead69af4a94" /><Relationship Type="http://schemas.openxmlformats.org/officeDocument/2006/relationships/font" Target="/ppt/fonts/font8.dat" Id="Rc47f6ae02be64ae7" /><Relationship Type="http://schemas.openxmlformats.org/officeDocument/2006/relationships/font" Target="/ppt/fonts/font9.dat" Id="Rbe861f91723b42da" /><Relationship Type="http://schemas.openxmlformats.org/officeDocument/2006/relationships/font" Target="/ppt/fonts/font10.dat" Id="Re90957fb74554c46" /><Relationship Type="http://schemas.openxmlformats.org/officeDocument/2006/relationships/font" Target="/ppt/fonts/font11.dat" Id="Rd0c7b7d388544045" /><Relationship Type="http://schemas.openxmlformats.org/officeDocument/2006/relationships/slide" Target="/ppt/slides/slide1.xml" Id="R8198a71f0d9446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f1dd773d2940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05-Modern Green Business Proposal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B5050"/>
      </a:accent1>
      <a:accent2>
        <a:srgbClr val="55B441"/>
      </a:accent2>
      <a:accent3>
        <a:srgbClr val="6E7378"/>
      </a:accent3>
      <a:accent4>
        <a:srgbClr val="91969B"/>
      </a:accent4>
      <a:accent5>
        <a:srgbClr val="AAAFB4"/>
      </a:accent5>
      <a:accent6>
        <a:srgbClr val="DCE1E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05-Modern Green Business Propos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245cfe5ed1472d" /><Relationship Type="http://schemas.openxmlformats.org/officeDocument/2006/relationships/notesMaster" Target="/ppt/notesMasters/notesMaster1.xml" Id="Rd8f149cbcffb47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de625bef6c4a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cbed5643f447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a2f09e424145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fe4154edcc49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e0d90732048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95642d3dc243a2" /></Relationships>
</file>

<file path=ppt/slideLayouts/slideLayout1.xml><?xml version="1.0" encoding="utf-8"?>
<p:sldLayout xmlns:p="http://schemas.openxmlformats.org/presentationml/2006/main" matchingName="Blank Page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matchingName="Title &amp; Content">
  <p:cSld name="Title &amp;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111">
            <a:extLst xmlns:a="http://schemas.openxmlformats.org/drawingml/2006/main">
              <a:ext uri="{FF2B5EF4-FFF2-40B4-BE49-F238E27FC236}">
                <a16:creationId xmlns:a16="http://schemas.microsoft.com/office/drawing/2014/main" id="{E2253026-5B80-4380-9EEA-BF2A79C3CB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1352" y="575841"/>
            <a:ext cx="7953374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3" name="Google Shape;13;p111">
            <a:extLst xmlns:a="http://schemas.openxmlformats.org/drawingml/2006/main">
              <a:ext uri="{FF2B5EF4-FFF2-40B4-BE49-F238E27FC236}">
                <a16:creationId xmlns:a16="http://schemas.microsoft.com/office/drawing/2014/main" id="{B12A1225-ACBB-458B-9CE7-404B37B671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725" y="959101"/>
            <a:ext cx="7953374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24" name="Google Shape;14;p111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5" name="Google Shape;15;p111">
            <a:extLst xmlns:a="http://schemas.openxmlformats.org/drawingml/2006/main">
              <a:ext uri="{FF2B5EF4-FFF2-40B4-BE49-F238E27FC236}">
                <a16:creationId xmlns:a16="http://schemas.microsoft.com/office/drawing/2014/main" id="{44CF2C29-76E6-4F2F-B1A3-30152DA0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" y="4722841"/>
            <a:ext cx="1783555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  <p:sp>
        <p:nvSpPr>
          <p:cNvPr id="16" name="Google Shape;16;p111">
            <a:extLst xmlns:a="http://schemas.openxmlformats.org/drawingml/2006/main">
              <a:ext uri="{FF2B5EF4-FFF2-40B4-BE49-F238E27FC236}">
                <a16:creationId xmlns:a16="http://schemas.microsoft.com/office/drawing/2014/main" id="{FDC53F09-D9F1-4705-B426-2B7B9FC2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422" y="4722841"/>
            <a:ext cx="206993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8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rPr>
              <a:t>‹#›</a:t>
            </a:fld>
          </a:p>
        </p:txBody>
      </p:sp>
      <p:sp>
        <p:nvSpPr>
          <p:cNvPr id="17" name="Google Shape;17;p111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C8B9A895-F595-41C2-A356-4A5BDD5F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28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883" y="679"/>
                </a:moveTo>
                <a:cubicBezTo>
                  <a:pt x="1338" y="1175"/>
                  <a:pt x="1338" y="1175"/>
                  <a:pt x="1338" y="1175"/>
                </a:cubicBezTo>
                <a:cubicBezTo>
                  <a:pt x="883" y="1671"/>
                  <a:pt x="883" y="1671"/>
                  <a:pt x="883" y="1671"/>
                </a:cubicBezTo>
                <a:cubicBezTo>
                  <a:pt x="844" y="1710"/>
                  <a:pt x="844" y="1774"/>
                  <a:pt x="883" y="1813"/>
                </a:cubicBezTo>
                <a:cubicBezTo>
                  <a:pt x="922" y="1852"/>
                  <a:pt x="985" y="1852"/>
                  <a:pt x="1023" y="1813"/>
                </a:cubicBezTo>
                <a:cubicBezTo>
                  <a:pt x="1579" y="1246"/>
                  <a:pt x="1579" y="1246"/>
                  <a:pt x="1579" y="1246"/>
                </a:cubicBezTo>
                <a:cubicBezTo>
                  <a:pt x="1618" y="1207"/>
                  <a:pt x="1618" y="1143"/>
                  <a:pt x="1579" y="1104"/>
                </a:cubicBezTo>
                <a:cubicBezTo>
                  <a:pt x="1023" y="537"/>
                  <a:pt x="1023" y="537"/>
                  <a:pt x="1023" y="537"/>
                </a:cubicBezTo>
                <a:cubicBezTo>
                  <a:pt x="985" y="498"/>
                  <a:pt x="922" y="498"/>
                  <a:pt x="883" y="537"/>
                </a:cubicBezTo>
                <a:cubicBezTo>
                  <a:pt x="844" y="576"/>
                  <a:pt x="844" y="640"/>
                  <a:pt x="883" y="679"/>
                </a:cubicBezTo>
                <a:close/>
                <a:moveTo>
                  <a:pt x="0" y="1175"/>
                </a:move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lose/>
                <a:moveTo>
                  <a:pt x="2198" y="1175"/>
                </a:move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" name="Google Shape;18;p111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7B7E9850-DAED-424F-8167-74F59962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097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1467" y="1671"/>
                </a:moveTo>
                <a:cubicBezTo>
                  <a:pt x="1012" y="1175"/>
                  <a:pt x="1012" y="1175"/>
                  <a:pt x="1012" y="1175"/>
                </a:cubicBezTo>
                <a:cubicBezTo>
                  <a:pt x="1467" y="679"/>
                  <a:pt x="1467" y="679"/>
                  <a:pt x="1467" y="679"/>
                </a:cubicBezTo>
                <a:cubicBezTo>
                  <a:pt x="1506" y="640"/>
                  <a:pt x="1506" y="576"/>
                  <a:pt x="1467" y="537"/>
                </a:cubicBezTo>
                <a:cubicBezTo>
                  <a:pt x="1428" y="498"/>
                  <a:pt x="1365" y="498"/>
                  <a:pt x="1327" y="537"/>
                </a:cubicBezTo>
                <a:cubicBezTo>
                  <a:pt x="771" y="1104"/>
                  <a:pt x="771" y="1104"/>
                  <a:pt x="771" y="1104"/>
                </a:cubicBezTo>
                <a:cubicBezTo>
                  <a:pt x="732" y="1143"/>
                  <a:pt x="732" y="1207"/>
                  <a:pt x="771" y="1246"/>
                </a:cubicBezTo>
                <a:cubicBezTo>
                  <a:pt x="1327" y="1813"/>
                  <a:pt x="1327" y="1813"/>
                  <a:pt x="1327" y="1813"/>
                </a:cubicBezTo>
                <a:cubicBezTo>
                  <a:pt x="1365" y="1852"/>
                  <a:pt x="1428" y="1852"/>
                  <a:pt x="1467" y="1813"/>
                </a:cubicBezTo>
                <a:cubicBezTo>
                  <a:pt x="1506" y="1774"/>
                  <a:pt x="1506" y="1710"/>
                  <a:pt x="1467" y="1671"/>
                </a:cubicBezTo>
                <a:close/>
                <a:moveTo>
                  <a:pt x="2350" y="1175"/>
                </a:move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lose/>
                <a:moveTo>
                  <a:pt x="152" y="1175"/>
                </a:move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Break Page">
  <p:cSld name="Section Break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112">
            <a:extLst xmlns:a="http://schemas.openxmlformats.org/drawingml/2006/main">
              <a:ext uri="{FF2B5EF4-FFF2-40B4-BE49-F238E27FC236}">
                <a16:creationId xmlns:a16="http://schemas.microsoft.com/office/drawing/2014/main" id="{28CB5DAA-C32C-4569-84D2-506BA29169F3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4.xml><?xml version="1.0" encoding="utf-8"?>
<p:sldLayout xmlns:p="http://schemas.openxmlformats.org/presentationml/2006/main" matchingName="Various Project Show Case">
  <p:cSld name="Various Project Show Ca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Google Shape;134;p125">
            <a:extLst xmlns:a="http://schemas.openxmlformats.org/drawingml/2006/main">
              <a:ext uri="{FF2B5EF4-FFF2-40B4-BE49-F238E27FC236}">
                <a16:creationId xmlns:a16="http://schemas.microsoft.com/office/drawing/2014/main" id="{966E9CE8-1244-4151-865B-3286E5702B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2" y="575841"/>
            <a:ext cx="7953374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35" name="Google Shape;135;p125">
            <a:extLst xmlns:a="http://schemas.openxmlformats.org/drawingml/2006/main">
              <a:ext uri="{FF2B5EF4-FFF2-40B4-BE49-F238E27FC236}">
                <a16:creationId xmlns:a16="http://schemas.microsoft.com/office/drawing/2014/main" id="{FB715F51-E677-4E32-982C-173D62CC850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725" y="959101"/>
            <a:ext cx="7953374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150" name="Google Shape;136;p125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37" name="Google Shape;137;p125">
            <a:extLst xmlns:a="http://schemas.openxmlformats.org/drawingml/2006/main">
              <a:ext uri="{FF2B5EF4-FFF2-40B4-BE49-F238E27FC236}">
                <a16:creationId xmlns:a16="http://schemas.microsoft.com/office/drawing/2014/main" id="{B6C6ACE4-06E4-437D-9C60-24668CF6AAEA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594391" y="1543050"/>
            <a:ext cx="1984248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38" name="Google Shape;138;p125">
            <a:extLst xmlns:a="http://schemas.openxmlformats.org/drawingml/2006/main">
              <a:ext uri="{FF2B5EF4-FFF2-40B4-BE49-F238E27FC236}">
                <a16:creationId xmlns:a16="http://schemas.microsoft.com/office/drawing/2014/main" id="{592CA460-C898-438B-B592-A957FE64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2" y="4731464"/>
            <a:ext cx="1783555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  <p:sp>
        <p:nvSpPr>
          <p:cNvPr id="139" name="Google Shape;139;p125">
            <a:extLst xmlns:a="http://schemas.openxmlformats.org/drawingml/2006/main">
              <a:ext uri="{FF2B5EF4-FFF2-40B4-BE49-F238E27FC236}">
                <a16:creationId xmlns:a16="http://schemas.microsoft.com/office/drawing/2014/main" id="{C94C2EE1-5606-43F1-A0C9-FDBDBC8E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422" y="4722841"/>
            <a:ext cx="206993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800" b="0">
                <a:solidFill>
                  <a:schemeClr val="accent4"/>
                </a:solidFill>
                <a:latin typeface="Lato"/>
                <a:ea typeface="Lato"/>
                <a:cs typeface="Lato"/>
              </a:rPr>
              <a:t>‹#›</a:t>
            </a:fld>
          </a:p>
        </p:txBody>
      </p:sp>
      <p:sp>
        <p:nvSpPr>
          <p:cNvPr id="140" name="Google Shape;140;p125">
            <a:extLst xmlns:a="http://schemas.openxmlformats.org/drawingml/2006/main">
              <a:ext uri="{FF2B5EF4-FFF2-40B4-BE49-F238E27FC236}">
                <a16:creationId xmlns:a16="http://schemas.microsoft.com/office/drawing/2014/main" id="{7BFA7ADF-3E92-44FC-80D7-3E8DC30E2529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561555" y="1543050"/>
            <a:ext cx="1984248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41" name="Google Shape;141;p125">
            <a:extLst xmlns:a="http://schemas.openxmlformats.org/drawingml/2006/main">
              <a:ext uri="{FF2B5EF4-FFF2-40B4-BE49-F238E27FC236}">
                <a16:creationId xmlns:a16="http://schemas.microsoft.com/office/drawing/2014/main" id="{387CD65C-3231-457D-AD08-B9F18EA19EC2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2577973" y="2913398"/>
            <a:ext cx="1984248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42" name="Google Shape;142;p125">
            <a:extLst xmlns:a="http://schemas.openxmlformats.org/drawingml/2006/main">
              <a:ext uri="{FF2B5EF4-FFF2-40B4-BE49-F238E27FC236}">
                <a16:creationId xmlns:a16="http://schemas.microsoft.com/office/drawing/2014/main" id="{00FF4E4A-7761-48DB-BC7F-BA9DECD37B04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6545137" y="2913398"/>
            <a:ext cx="1984248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43" name="Google Shape;143;p125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25E54592-A10A-4CCE-9619-F7338B42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28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883" y="679"/>
                </a:moveTo>
                <a:cubicBezTo>
                  <a:pt x="1338" y="1175"/>
                  <a:pt x="1338" y="1175"/>
                  <a:pt x="1338" y="1175"/>
                </a:cubicBezTo>
                <a:cubicBezTo>
                  <a:pt x="883" y="1671"/>
                  <a:pt x="883" y="1671"/>
                  <a:pt x="883" y="1671"/>
                </a:cubicBezTo>
                <a:cubicBezTo>
                  <a:pt x="844" y="1710"/>
                  <a:pt x="844" y="1774"/>
                  <a:pt x="883" y="1813"/>
                </a:cubicBezTo>
                <a:cubicBezTo>
                  <a:pt x="922" y="1852"/>
                  <a:pt x="985" y="1852"/>
                  <a:pt x="1023" y="1813"/>
                </a:cubicBezTo>
                <a:cubicBezTo>
                  <a:pt x="1579" y="1246"/>
                  <a:pt x="1579" y="1246"/>
                  <a:pt x="1579" y="1246"/>
                </a:cubicBezTo>
                <a:cubicBezTo>
                  <a:pt x="1618" y="1207"/>
                  <a:pt x="1618" y="1143"/>
                  <a:pt x="1579" y="1104"/>
                </a:cubicBezTo>
                <a:cubicBezTo>
                  <a:pt x="1023" y="537"/>
                  <a:pt x="1023" y="537"/>
                  <a:pt x="1023" y="537"/>
                </a:cubicBezTo>
                <a:cubicBezTo>
                  <a:pt x="985" y="498"/>
                  <a:pt x="922" y="498"/>
                  <a:pt x="883" y="537"/>
                </a:cubicBezTo>
                <a:cubicBezTo>
                  <a:pt x="844" y="576"/>
                  <a:pt x="844" y="640"/>
                  <a:pt x="883" y="679"/>
                </a:cubicBezTo>
                <a:close/>
                <a:moveTo>
                  <a:pt x="0" y="1175"/>
                </a:move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lose/>
                <a:moveTo>
                  <a:pt x="2198" y="1175"/>
                </a:move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4" name="Google Shape;144;p125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2E126973-59B9-43CB-8D1C-6341F240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097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1467" y="1671"/>
                </a:moveTo>
                <a:cubicBezTo>
                  <a:pt x="1012" y="1175"/>
                  <a:pt x="1012" y="1175"/>
                  <a:pt x="1012" y="1175"/>
                </a:cubicBezTo>
                <a:cubicBezTo>
                  <a:pt x="1467" y="679"/>
                  <a:pt x="1467" y="679"/>
                  <a:pt x="1467" y="679"/>
                </a:cubicBezTo>
                <a:cubicBezTo>
                  <a:pt x="1506" y="640"/>
                  <a:pt x="1506" y="576"/>
                  <a:pt x="1467" y="537"/>
                </a:cubicBezTo>
                <a:cubicBezTo>
                  <a:pt x="1428" y="498"/>
                  <a:pt x="1365" y="498"/>
                  <a:pt x="1327" y="537"/>
                </a:cubicBezTo>
                <a:cubicBezTo>
                  <a:pt x="771" y="1104"/>
                  <a:pt x="771" y="1104"/>
                  <a:pt x="771" y="1104"/>
                </a:cubicBezTo>
                <a:cubicBezTo>
                  <a:pt x="732" y="1143"/>
                  <a:pt x="732" y="1207"/>
                  <a:pt x="771" y="1246"/>
                </a:cubicBezTo>
                <a:cubicBezTo>
                  <a:pt x="1327" y="1813"/>
                  <a:pt x="1327" y="1813"/>
                  <a:pt x="1327" y="1813"/>
                </a:cubicBezTo>
                <a:cubicBezTo>
                  <a:pt x="1365" y="1852"/>
                  <a:pt x="1428" y="1852"/>
                  <a:pt x="1467" y="1813"/>
                </a:cubicBezTo>
                <a:cubicBezTo>
                  <a:pt x="1506" y="1774"/>
                  <a:pt x="1506" y="1710"/>
                  <a:pt x="1467" y="1671"/>
                </a:cubicBezTo>
                <a:close/>
                <a:moveTo>
                  <a:pt x="2350" y="1175"/>
                </a:move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lose/>
                <a:moveTo>
                  <a:pt x="152" y="1175"/>
                </a:move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Full Background">
  <p:cSld name="Full Backgrou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2" name="Google Shape;192;p131">
            <a:extLst xmlns:a="http://schemas.openxmlformats.org/drawingml/2006/main">
              <a:ext uri="{FF2B5EF4-FFF2-40B4-BE49-F238E27FC236}">
                <a16:creationId xmlns:a16="http://schemas.microsoft.com/office/drawing/2014/main" id="{06CC60F1-3C05-4DEC-BBCD-FCF185F8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Welcome Message">
  <p:cSld name="Welcome Mess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1" name="Google Shape;231;p136">
            <a:extLst xmlns:a="http://schemas.openxmlformats.org/drawingml/2006/main">
              <a:ext uri="{FF2B5EF4-FFF2-40B4-BE49-F238E27FC236}">
                <a16:creationId xmlns:a16="http://schemas.microsoft.com/office/drawing/2014/main" id="{1DFF07E8-9433-46CF-80DD-596F93B6AD72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090271" y="1588761"/>
            <a:ext cx="963458" cy="9634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7aaf30acb04bb4" /><Relationship Type="http://schemas.openxmlformats.org/officeDocument/2006/relationships/slideLayout" Target="/ppt/slideLayouts/slideLayout1.xml" Id="Rdb5e26ccab094ad7" /><Relationship Type="http://schemas.openxmlformats.org/officeDocument/2006/relationships/slideLayout" Target="/ppt/slideLayouts/slideLayout2.xml" Id="R439a0f43ccfd44ea" /><Relationship Type="http://schemas.openxmlformats.org/officeDocument/2006/relationships/slideLayout" Target="/ppt/slideLayouts/slideLayout3.xml" Id="R9e0fe9c2175d4080" /><Relationship Type="http://schemas.openxmlformats.org/officeDocument/2006/relationships/slideLayout" Target="/ppt/slideLayouts/slideLayout4.xml" Id="Rcbaa28bae1fd445d" /><Relationship Type="http://schemas.openxmlformats.org/officeDocument/2006/relationships/slideLayout" Target="/ppt/slideLayouts/slideLayout5.xml" Id="R9ad60e3d28494801" /><Relationship Type="http://schemas.openxmlformats.org/officeDocument/2006/relationships/slideLayout" Target="/ppt/slideLayouts/slideLayout6.xml" Id="R65d01dd271be4a6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5e26ccab094ad7"/>
    <p:sldLayoutId xmlns:r="http://schemas.openxmlformats.org/officeDocument/2006/relationships" id="2147483650" r:id="R439a0f43ccfd44ea"/>
    <p:sldLayoutId xmlns:r="http://schemas.openxmlformats.org/officeDocument/2006/relationships" id="2147483651" r:id="R9e0fe9c2175d4080"/>
    <p:sldLayoutId xmlns:r="http://schemas.openxmlformats.org/officeDocument/2006/relationships" id="2147483652" r:id="Rcbaa28bae1fd445d"/>
    <p:sldLayoutId xmlns:r="http://schemas.openxmlformats.org/officeDocument/2006/relationships" id="2147483653" r:id="R9ad60e3d28494801"/>
    <p:sldLayoutId xmlns:r="http://schemas.openxmlformats.org/officeDocument/2006/relationships" id="2147483654" r:id="R65d01dd271be4a6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05-Modern Green Business Proposal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B5050"/>
      </a:accent1>
      <a:accent2>
        <a:srgbClr val="55B441"/>
      </a:accent2>
      <a:accent3>
        <a:srgbClr val="6E7378"/>
      </a:accent3>
      <a:accent4>
        <a:srgbClr val="91969B"/>
      </a:accent4>
      <a:accent5>
        <a:srgbClr val="AAAFB4"/>
      </a:accent5>
      <a:accent6>
        <a:srgbClr val="DCE1E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05-Modern Green Business Propos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1b7c43c3b94cd1" /><Relationship Type="http://schemas.openxmlformats.org/officeDocument/2006/relationships/image" Target="/ppt/media/image.png" Id="R26c38217cc644ab9" /><Relationship Type="http://schemas.openxmlformats.org/officeDocument/2006/relationships/image" Target="/ppt/media/image.svg" Id="R7b41451e30c3428f" /><Relationship Type="http://schemas.openxmlformats.org/officeDocument/2006/relationships/image" Target="/ppt/media/image2.png" Id="R74aacad82b5a4cad" /><Relationship Type="http://schemas.openxmlformats.org/officeDocument/2006/relationships/image" Target="/ppt/media/image2.svg" Id="R56c01e0af8aa4aac" /><Relationship Type="http://schemas.openxmlformats.org/officeDocument/2006/relationships/image" Target="/ppt/media/image3.png" Id="R7c96d07634e94f40" /><Relationship Type="http://schemas.openxmlformats.org/officeDocument/2006/relationships/image" Target="/ppt/media/image3.svg" Id="R1780879ce48c4517" /><Relationship Type="http://schemas.openxmlformats.org/officeDocument/2006/relationships/image" Target="/ppt/media/image4.png" Id="R7a52dd66d1714dae" /><Relationship Type="http://schemas.openxmlformats.org/officeDocument/2006/relationships/image" Target="/ppt/media/image4.svg" Id="R3c7f12dffccf433a" /><Relationship Type="http://schemas.openxmlformats.org/officeDocument/2006/relationships/notesSlide" Target="/ppt/notesSlides/notesSlide1.xml" Id="R552fd87b38804e9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40AD50EA-368D-FD90-588F-5225B95AD9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Stakeholder Analysis Matrix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54CA3BA-91D8-5500-FD21-DF8955CFAE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626B6E"/>
                </a:solidFill>
                <a:latin typeface="Lato"/>
                <a:ea typeface="Lato"/>
                <a:cs typeface="Lato"/>
              </a:rPr>
              <a:t>Prioritise engagement by stakeholder interest and influence.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FFF325A-11D1-3F7B-2C53-6BBAF906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436" y="1199018"/>
            <a:ext cx="1385180" cy="13851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00" b="1">
                <a:solidFill>
                  <a:schemeClr val="bg1"/>
                </a:solidFill>
              </a:rPr>
              <a:t>Keep satisfied</a:t>
            </a:r>
          </a:p>
          <a:p xmlns:a="http://schemas.openxmlformats.org/drawingml/2006/main">
            <a:pPr marL="171450" indent="-171450">
              <a:buChar char="•"/>
            </a:pPr>
            <a:r>
              <a:rPr sz="1000">
                <a:solidFill>
                  <a:schemeClr val="bg1"/>
                </a:solidFill>
              </a:rPr>
              <a:t>Media</a:t>
            </a:r>
          </a:p>
          <a:p xmlns:a="http://schemas.openxmlformats.org/drawingml/2006/main">
            <a:pPr marL="171450" indent="-171450">
              <a:buChar char="•"/>
            </a:pPr>
            <a:r>
              <a:rPr sz="1000">
                <a:solidFill>
                  <a:schemeClr val="bg1"/>
                </a:solidFill>
              </a:rPr>
              <a:t>General public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110327B-5FF9-7CA2-2E1C-C9D7A404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594" y="1199018"/>
            <a:ext cx="1385180" cy="13851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rPr sz="1100" b="1">
                <a:solidFill>
                  <a:schemeClr val="bg1"/>
                </a:solidFill>
              </a:rPr>
              <a:t>Manage closely</a:t>
            </a:r>
          </a:p>
          <a:p xmlns:a="http://schemas.openxmlformats.org/drawingml/2006/main">
            <a:pPr marL="171450" indent="-171450">
              <a:buChar char="•"/>
            </a:pPr>
            <a:r>
              <a:rPr sz="1000">
                <a:solidFill>
                  <a:schemeClr val="bg1"/>
                </a:solidFill>
              </a:rPr>
              <a:t>Gov. Agencies</a:t>
            </a:r>
          </a:p>
          <a:p xmlns:a="http://schemas.openxmlformats.org/drawingml/2006/main">
            <a:pPr marL="171450" indent="-171450">
              <a:buChar char="•"/>
            </a:pPr>
            <a:r>
              <a:rPr sz="1000">
                <a:solidFill>
                  <a:schemeClr val="bg1"/>
                </a:solidFill>
              </a:rPr>
              <a:t>Donors</a:t>
            </a:r>
          </a:p>
          <a:p xmlns:a="http://schemas.openxmlformats.org/drawingml/2006/main">
            <a:pPr marL="171450" indent="-171450" algn="ctr">
              <a:buChar char="•"/>
            </a:pPr>
          </a:p>
          <a:p xmlns:a="http://schemas.openxmlformats.org/drawingml/2006/main">
            <a:pPr marL="171450" indent="-171450" algn="ctr">
              <a:buChar char="•"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81526D2-980B-3F2E-C694-7A71967E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436" y="2901070"/>
            <a:ext cx="1385180" cy="13851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>
              <a:buNone/>
            </a:pPr>
          </a:p>
          <a:p xmlns:a="http://schemas.openxmlformats.org/drawingml/2006/main">
            <a:r>
              <a:rPr sz="1100" b="1">
                <a:solidFill>
                  <a:schemeClr val="bg1"/>
                </a:solidFill>
              </a:rPr>
              <a:t>Monitoring</a:t>
            </a:r>
          </a:p>
          <a:p xmlns:a="http://schemas.openxmlformats.org/drawingml/2006/main">
            <a:pPr marL="171450" indent="-171450">
              <a:buChar char="•"/>
            </a:pPr>
            <a:r>
              <a:rPr sz="1000">
                <a:solidFill>
                  <a:schemeClr val="bg1"/>
                </a:solidFill>
              </a:rPr>
              <a:t>Academic institutions</a:t>
            </a:r>
          </a:p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C7501A7-0FC7-D037-635C-5620A740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594" y="2901070"/>
            <a:ext cx="1385180" cy="13851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</a:rPr>
              <a:t>Keep informed</a:t>
            </a:r>
          </a:p>
          <a:p xmlns:a="http://schemas.openxmlformats.org/drawingml/2006/main">
            <a:pPr marL="171450" indent="-171450" algn="ctr">
              <a:buChar char="•"/>
            </a:pPr>
            <a:r>
              <a:rPr sz="900">
                <a:solidFill>
                  <a:schemeClr val="bg1"/>
                </a:solidFill>
              </a:rPr>
              <a:t>Beneficiaries</a:t>
            </a:r>
          </a:p>
          <a:p xmlns:a="http://schemas.openxmlformats.org/drawingml/2006/main">
            <a:pPr marL="171450" indent="-171450" algn="ctr">
              <a:buChar char="•"/>
            </a:pPr>
            <a:r>
              <a:rPr sz="900">
                <a:solidFill>
                  <a:schemeClr val="bg1"/>
                </a:solidFill>
              </a:rPr>
              <a:t>Communities</a:t>
            </a:r>
          </a:p>
        </p:txBody>
      </p:sp>
      <p:cxnSp>
        <p:nvCxnSpPr>
          <p:cNvPr id="39" name="Straight Arrow Connector 7"/>
          <p:cNvCxnSpPr/>
          <p:nvPr/>
        </p:nvCxnSpPr>
        <p:spPr>
          <a:xfrm xmlns:a="http://schemas.openxmlformats.org/drawingml/2006/main" flipV="1">
            <a:off x="593725" y="4412998"/>
            <a:ext cx="3213742" cy="501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prstDash val="dash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0" name="Straight Arrow Connector 8"/>
          <p:cNvCxnSpPr/>
          <p:nvPr/>
        </p:nvCxnSpPr>
        <p:spPr>
          <a:xfrm xmlns:a="http://schemas.openxmlformats.org/drawingml/2006/main" flipV="1">
            <a:off x="593725" y="1330783"/>
            <a:ext cx="0" cy="308723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prstDash val="dash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pic>
        <p:nvPicPr>
          <p:cNvPr id="41" name="Graphic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38217cc644ab9">
            <a:extLst>
              <a:ext uri="{96DAC541-7B7A-43D3-8B79-37D633B846F1}">
                <asvg:svgBlip xmlns:asvg="http://schemas.microsoft.com/office/drawing/2016/SVG/main" r:embed="R7b41451e30c3428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8300" y="2127250"/>
            <a:ext cx="355600" cy="374650"/>
          </a:xfrm>
          <a:prstGeom xmlns:a="http://schemas.openxmlformats.org/drawingml/2006/main" prst="rect">
            <a:avLst/>
          </a:prstGeom>
        </p:spPr>
      </p:pic>
      <p:pic>
        <p:nvPicPr>
          <p:cNvPr id="42" name="Graphic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aacad82b5a4cad">
            <a:extLst>
              <a:ext uri="{96DAC541-7B7A-43D3-8B79-37D633B846F1}">
                <asvg:svgBlip xmlns:asvg="http://schemas.microsoft.com/office/drawing/2016/SVG/main" r:embed="R56c01e0af8aa4aa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4700" y="2108200"/>
            <a:ext cx="438150" cy="393700"/>
          </a:xfrm>
          <a:prstGeom xmlns:a="http://schemas.openxmlformats.org/drawingml/2006/main" prst="rect">
            <a:avLst/>
          </a:prstGeom>
        </p:spPr>
      </p:pic>
      <p:pic>
        <p:nvPicPr>
          <p:cNvPr id="43" name="Graphic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6d07634e94f40">
            <a:extLst>
              <a:ext uri="{96DAC541-7B7A-43D3-8B79-37D633B846F1}">
                <asvg:svgBlip xmlns:asvg="http://schemas.microsoft.com/office/drawing/2016/SVG/main" r:embed="R1780879ce48c451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93850" y="3854450"/>
            <a:ext cx="444500" cy="457200"/>
          </a:xfrm>
          <a:prstGeom xmlns:a="http://schemas.openxmlformats.org/drawingml/2006/main" prst="rect">
            <a:avLst/>
          </a:prstGeom>
        </p:spPr>
      </p:pic>
      <p:pic>
        <p:nvPicPr>
          <p:cNvPr id="44" name="Graphic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2dd66d1714dae">
            <a:extLst>
              <a:ext uri="{96DAC541-7B7A-43D3-8B79-37D633B846F1}">
                <asvg:svgBlip xmlns:asvg="http://schemas.microsoft.com/office/drawing/2016/SVG/main" r:embed="R3c7f12dffccf433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21050" y="3886200"/>
            <a:ext cx="431800" cy="393700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BAD5B5B-2C73-0E69-177B-71CC531F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4059" y="2730039"/>
            <a:ext cx="2480650" cy="178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/>
          <a:lstStyle xmlns:a="http://schemas.openxmlformats.org/drawingml/2006/main"/>
          <a:p xmlns:a="http://schemas.openxmlformats.org/drawingml/2006/main">
            <a:r>
              <a:rPr sz="1013">
                <a:solidFill>
                  <a:srgbClr val="202629"/>
                </a:solidFill>
                <a:latin typeface="Lato"/>
                <a:ea typeface="Lato"/>
                <a:cs typeface="Lato"/>
              </a:rPr>
              <a:t>STAKEHOLDER GROUPS</a:t>
            </a:r>
          </a:p>
          <a:p xmlns:a="http://schemas.openxmlformats.org/drawingml/2006/main">
            <a:r>
              <a:rPr sz="1000">
                <a:latin typeface="Lato"/>
                <a:ea typeface="Lato"/>
                <a:cs typeface="Lato"/>
              </a:rPr>
              <a:t/>
            </a:r>
          </a:p>
          <a:p xmlns:a="http://schemas.openxmlformats.org/drawingml/2006/main">
            <a:r>
              <a:rPr sz="1013">
                <a:solidFill>
                  <a:srgbClr val="202629"/>
                </a:solidFill>
                <a:latin typeface="Lato"/>
                <a:ea typeface="Lato"/>
                <a:cs typeface="Lato"/>
              </a:rPr>
              <a:t>1. Major donors</a:t>
            </a:r>
          </a:p>
          <a:p xmlns:a="http://schemas.openxmlformats.org/drawingml/2006/main">
            <a:r>
              <a:rPr sz="1013">
                <a:solidFill>
                  <a:srgbClr val="202629"/>
                </a:solidFill>
                <a:latin typeface="Lato"/>
                <a:ea typeface="Lato"/>
                <a:cs typeface="Lato"/>
              </a:rPr>
              <a:t>2. Partner organisations</a:t>
            </a:r>
          </a:p>
          <a:p xmlns:a="http://schemas.openxmlformats.org/drawingml/2006/main">
            <a:r>
              <a:rPr sz="1013">
                <a:solidFill>
                  <a:srgbClr val="202629"/>
                </a:solidFill>
              </a:rPr>
              <a:t>3. Government agencies</a:t>
            </a:r>
          </a:p>
          <a:p xmlns:a="http://schemas.openxmlformats.org/drawingml/2006/main">
            <a:r>
              <a:rPr sz="1013">
                <a:solidFill>
                  <a:srgbClr val="202629"/>
                </a:solidFill>
              </a:rPr>
              <a:t>4. Beneficiaries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DD13E82-7CCE-7437-9664-815DE31B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709" y="2731762"/>
            <a:ext cx="1982867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/>
          <a:lstStyle xmlns:a="http://schemas.openxmlformats.org/drawingml/2006/main"/>
          <a:p xmlns:a="http://schemas.openxmlformats.org/drawingml/2006/main">
            <a:r>
              <a:rPr sz="1000">
                <a:latin typeface="Lato"/>
                <a:ea typeface="Lato"/>
                <a:cs typeface="Lato"/>
              </a:rPr>
              <a:t/>
            </a:r>
          </a:p>
          <a:p xmlns:a="http://schemas.openxmlformats.org/drawingml/2006/main">
            <a:r>
              <a:rPr sz="1000">
                <a:latin typeface="Lato"/>
                <a:ea typeface="Lato"/>
                <a:cs typeface="Lato"/>
              </a:rPr>
              <a:t/>
            </a:r>
          </a:p>
          <a:p xmlns:a="http://schemas.openxmlformats.org/drawingml/2006/main">
            <a:r>
              <a:rPr sz="1013">
                <a:solidFill>
                  <a:srgbClr val="202629"/>
                </a:solidFill>
                <a:latin typeface="Lato"/>
                <a:ea typeface="Lato"/>
                <a:cs typeface="Lato"/>
              </a:rPr>
              <a:t>5. Local communities</a:t>
            </a:r>
          </a:p>
          <a:p xmlns:a="http://schemas.openxmlformats.org/drawingml/2006/main">
            <a:r>
              <a:rPr sz="1013">
                <a:solidFill>
                  <a:srgbClr val="202629"/>
                </a:solidFill>
                <a:latin typeface="Lato"/>
                <a:ea typeface="Lato"/>
                <a:cs typeface="Lato"/>
              </a:rPr>
              <a:t>6. Media outlets</a:t>
            </a:r>
          </a:p>
          <a:p xmlns:a="http://schemas.openxmlformats.org/drawingml/2006/main">
            <a:r>
              <a:rPr sz="1013">
                <a:solidFill>
                  <a:srgbClr val="202629"/>
                </a:solidFill>
                <a:latin typeface="Lato"/>
                <a:ea typeface="Lato"/>
                <a:cs typeface="Lato"/>
              </a:rPr>
              <a:t>7. General public</a:t>
            </a:r>
          </a:p>
          <a:p xmlns:a="http://schemas.openxmlformats.org/drawingml/2006/main">
            <a:r>
              <a:rPr sz="1013">
                <a:solidFill>
                  <a:srgbClr val="202629"/>
                </a:solidFill>
                <a:latin typeface="Lato"/>
                <a:ea typeface="Lato"/>
                <a:cs typeface="Lato"/>
              </a:rPr>
              <a:t>8. Academic institutions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51BBD93-B389-E0E7-6614-20B30F19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472" y="1330783"/>
            <a:ext cx="4572628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indent="0">
              <a:buFont typeface="Arial"/>
              <a:buNone/>
            </a:pPr>
            <a:r>
              <a:rPr sz="1050" b="1">
                <a:solidFill>
                  <a:srgbClr val="202629"/>
                </a:solidFill>
                <a:latin typeface="Lato"/>
                <a:ea typeface="Lato"/>
                <a:cs typeface="Lato"/>
              </a:rPr>
              <a:t>ENGAGEMENT RULE</a:t>
            </a:r>
          </a:p>
          <a:p xmlns:a="http://schemas.openxmlformats.org/drawingml/2006/main">
            <a:pPr marL="0" indent="0">
              <a:buFont typeface="Arial"/>
              <a:buNone/>
            </a:pPr>
            <a:r>
              <a:rPr sz="1050">
                <a:solidFill>
                  <a:srgbClr val="202629"/>
                </a:solidFill>
                <a:latin typeface="Lato"/>
                <a:ea typeface="Lato"/>
                <a:cs typeface="Lato"/>
              </a:rPr>
              <a:t>Manage high-interest, high-influence groups closely: maintain relationships, request feedback and address concerns.</a:t>
            </a:r>
          </a:p>
          <a:p xmlns:a="http://schemas.openxmlformats.org/drawingml/2006/main">
            <a:pPr marL="0" indent="0">
              <a:buFont typeface="Arial"/>
              <a:buNone/>
            </a:pPr>
            <a:r>
              <a:rPr sz="1050">
                <a:solidFill>
                  <a:srgbClr val="202629"/>
                </a:solidFill>
                <a:latin typeface="Lato"/>
                <a:ea typeface="Lato"/>
                <a:cs typeface="Lato"/>
              </a:rPr>
              <a:t>Build the influence of high-interest, low-influence groups through advocacy or capacity-building.</a:t>
            </a:r>
          </a:p>
        </p:txBody>
      </p:sp>
    </p:spTree>
    <p:extLst>
      <p:ext uri="{BB962C8B-B14F-4D97-AF65-F5344CB8AC3E}">
        <p14:creationId xmlns:p14="http://schemas.microsoft.com/office/powerpoint/2010/main" val="4117283511"/>
      </p:ext>
    </p:extLst>
  </p:cSld>
</p:sld>
</file>

<file path=ppt/theme/theme1.xml><?xml version="1.0" encoding="utf-8"?>
<a:theme xmlns:a="http://schemas.openxmlformats.org/drawingml/2006/main" name="Office Theme">
  <a:themeElements>
    <a:clrScheme name="05-Modern Green Business Proposal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B5050"/>
      </a:accent1>
      <a:accent2>
        <a:srgbClr val="55B441"/>
      </a:accent2>
      <a:accent3>
        <a:srgbClr val="6E7378"/>
      </a:accent3>
      <a:accent4>
        <a:srgbClr val="91969B"/>
      </a:accent4>
      <a:accent5>
        <a:srgbClr val="AAAFB4"/>
      </a:accent5>
      <a:accent6>
        <a:srgbClr val="DCE1E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05-Modern Green Business Propos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2026-08-12T17:42:35.2070000Z</dcterms:created>
  <dcterms:modified xsi:type="dcterms:W3CDTF">2026-08-12T17:42:35.2070000Z</dcterms:modified>
</coreProperties>
</file>